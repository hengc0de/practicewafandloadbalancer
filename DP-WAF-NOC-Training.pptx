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8" r:id="rId10"/>
    <p:sldId id="263" r:id="rId11"/>
    <p:sldId id="264" r:id="rId12"/>
    <p:sldId id="265" r:id="rId13"/>
    <p:sldId id="270" r:id="rId14"/>
    <p:sldId id="271" r:id="rId15"/>
    <p:sldId id="26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4266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Hands-on, not slideware. Two halves: WAF (attacks) + LB/DDoS (uptime). ~45 min. You run the demos; their one hands-on moment = the capacity test (slide 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Roadmap. Two angles: security (Part 1) + availability (Part 2), each ending in a live demo. Lab on http://&lt;host&gt;:6060.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Hook. Ask: who's taken a 3am slow-site page? Many 'outages' = capacity or attack, fixed at the edge. Goal: recognize the signatures — 503 spikes, single-IP floods, injection strings.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short. Network firewall = L3/4 (IP/port); WAF = L7, reads the HTTP payload. Analogy: door lock vs. guard reading the envelope.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You've set it up. Web-attack chain (next 2 slides) = you demo on projector. Capacity test (slide 9) = the only hands-on part — hand out the URL there, not now. Share the real LAN IP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1) login guest/guest (works) 2) login ' OR 1=1 -- + blank password → admin 3) point at executedSql panel. Real fix = parameterized queries; edge fix = DP WAF.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(showpiece): 1) open /attacker.html (collector) 2) submit script payload on /feedback.html 3) admin views dashboard → payload runs, beacons cookie 4) attacker console → Replay as admin. Cookie not HttpOnly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run the flood script from your own IP. DP WAF detects the volume and blocks you. Open the site in your browser → it's now inaccessible to you. Key point: real client IP, not a spoofed header — the block is real. NOC sees: spike from one IP → flatlines once blocked.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723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concept. IP Hash = same client → same origin (sticky); we'll demo it. DP WAF model: give us origin URLs, we balance — no extra infra.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(the ONE hands-on moment): hand out the /capacity.html URL. 3rd real IP gets the 503. Solo/flaky Wi-Fi → /capacity-simulated.html. Shared-NAT IPs → segue to IP Hash (Phase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both VPS origins are live behind DP WAF. Have the 503 person reload → now connects, 'Served by origin' differs per person. Message: horizontal scale = answer to capacity spikes.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77389-47FE-B89E-AC6C-E337BA6D7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0D6918-C3B4-1754-A597-7F3A01BF9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11F4B7-82D2-0CE3-9906-688BC4CE1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both VPS origins are live behind DP WAF. Have the 503 person reload → now connects, 'Served by origin' differs per person. Message: horizontal scale = answer to capacity spikes.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CE34F-6B25-0358-7C0A-F69B5584B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27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D0288-2B99-3C75-9752-D3B78982F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4CEAE-81E2-9C92-35D5-740CB808F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BEBDE-DD78-3D11-7194-B74792BBD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both VPS origins are live behind DP WAF. Have the 503 person reload → now connects, 'Served by origin' differs per person. Message: horizontal scale = answer to capacity spikes.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E4E46-7E50-7CE9-2C3C-304ABE32A8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3682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One-liner: the edge (WAF + LB) enforces both security + availability before the origin. Encourage replaying the lab.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822960" cy="82296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600200" y="2377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ENABLEMENT · HANDS-ON LAB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0200" y="269748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58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 WAF</a:t>
            </a:r>
            <a:r>
              <a:rPr lang="en-US" sz="40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&amp; Load Balancer
Security &amp; Resilience Training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00200" y="43434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run a WAF and load balancing in front of our origins — and what it looks like when we don't.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Leng BunHeng · For the NOC team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22128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— WAF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606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— login bypass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XSS → session theft → takeover</a:t>
            </a: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Protection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0" y="2194560"/>
            <a:ext cx="502920" cy="5029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223760" y="221284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 — Load Balancer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23760" y="2606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30632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single origin falls over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capacity wall (real HTTP 503)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load balancing across origins</a:t>
            </a: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Load balancer algorithms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TO NOC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the ones who see it first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= the first responders. You see the </a:t>
            </a:r>
            <a:r>
              <a:rPr lang="en-US" sz="1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 spikes</a:t>
            </a:r>
            <a:r>
              <a:rPr lang="en-US" sz="1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</a:t>
            </a:r>
            <a:r>
              <a:rPr lang="en-US" sz="1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single-IP floods</a:t>
            </a:r>
            <a:r>
              <a:rPr lang="en-US" sz="1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</a:t>
            </a:r>
            <a:r>
              <a:rPr lang="en-US" sz="1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strings</a:t>
            </a:r>
            <a:r>
              <a:rPr lang="en-US" sz="1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logs — before anyone else knows there's a problem.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lives at the edge: a WAF + load balancer handles both security and availability before the origin is touched.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4434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503 spikes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4800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overload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42062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17720" y="4434840"/>
            <a:ext cx="502920" cy="5029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03520" y="4434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Single-IP floods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03520" y="4800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pattern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42062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12480" y="4434840"/>
            <a:ext cx="502920" cy="502920"/>
          </a:xfrm>
          <a:prstGeom prst="ellipse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12480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98280" y="4434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strings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98280" y="4800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 / XSS attempts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</a:t>
            </a:r>
            <a:r>
              <a:rPr lang="en-US" sz="3200" b="1" dirty="0">
                <a:solidFill>
                  <a:srgbClr val="58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WAF</a:t>
            </a: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035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 front of the web app — first line of defense.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at the application layer (HTTP/HTTPS).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Inspects each request — URL, headers, body — and blocks malicious ones.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what a traditional network firewall can't see: SQLi, XSS, and friends.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49440" y="1965960"/>
            <a:ext cx="4709160" cy="4114800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223760" y="2331720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23760" y="233172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 / Attacker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52560" y="2926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8A6FF"/>
                </a:solidFill>
              </a:rPr>
              <a:t>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223760" y="3337560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23760" y="333756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DP WAF — inspect &amp; filter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52560" y="3931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8A6FF"/>
                </a:solidFill>
              </a:rPr>
              <a:t>↓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223760" y="4343400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23760" y="434340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Origin web app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training environment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r>
              <a:rPr lang="en-US" sz="16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http://&lt;host&gt;:6060</a:t>
            </a: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deliberately </a:t>
            </a:r>
            <a:r>
              <a:rPr lang="en-US" sz="16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vulnerable-by-design</a:t>
            </a: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app. Two scenarios: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🔓  Web attack chain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dashboard → feedback → attacker console. SQLi bypass + stored XSS session theft.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51460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26974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⚖️  Live capacity test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31546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origin serves only 2 IPs. Watch it fall over, then load-balance 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11109960" cy="822960"/>
          </a:xfrm>
          <a:prstGeom prst="roundRect">
            <a:avLst>
              <a:gd name="adj" fmla="val 13333"/>
            </a:avLst>
          </a:prstGeom>
          <a:solidFill>
            <a:srgbClr val="2A1518"/>
          </a:solidFill>
          <a:ln w="12700">
            <a:solidFill>
              <a:srgbClr val="F85149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48920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Vulnerable on purpose. Local, authorized training only — never expose it publicly.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ATTACK 1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59536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7324A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 — login bypass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login builds its query by gluing your input into SQL text: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6035040" cy="1005840"/>
          </a:xfrm>
          <a:prstGeom prst="roundRect">
            <a:avLst>
              <a:gd name="adj" fmla="val 7273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587752"/>
            <a:ext cx="5577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users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user = '' OR 1=1 --' AND pass = ''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</a:t>
            </a:r>
            <a:r>
              <a:rPr lang="en-US" sz="13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OR 1=1 --</a:t>
            </a: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(the lab's click-to-fill chip) makes the query return every row — </a:t>
            </a:r>
            <a:r>
              <a:rPr lang="en-US" sz="13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</a:t>
            </a: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comments out the password check. Alt: </a:t>
            </a:r>
            <a:r>
              <a:rPr lang="en-US" sz="135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admin' --</a:t>
            </a: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skips straight to the admin row.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949440" y="1874520"/>
            <a:ext cx="4709160" cy="4206240"/>
          </a:xfrm>
          <a:prstGeom prst="roundRect">
            <a:avLst>
              <a:gd name="adj" fmla="val 260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6948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steps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269480" y="2670048"/>
            <a:ext cx="310896" cy="310896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69480" y="2670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26680" y="2651760"/>
            <a:ext cx="365760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/login.html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69480" y="3736848"/>
            <a:ext cx="310896" cy="310896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69480" y="37368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26680" y="3718560"/>
            <a:ext cx="365760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Username: ' OR 1=1 --  (chip) · password blank → Sign in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69480" y="4803648"/>
            <a:ext cx="310896" cy="310896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69480" y="48036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26680" y="4785360"/>
            <a:ext cx="365760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returned executedSql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ATTACK 2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59536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7324A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Stored XSS → session theft → </a:t>
            </a:r>
            <a:r>
              <a:rPr lang="en-US" sz="3200" b="1" dirty="0">
                <a:solidFill>
                  <a:srgbClr val="F85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takeover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537460" cy="59436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25374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feedback form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86100" y="1874520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06140" y="1874520"/>
            <a:ext cx="2537460" cy="59436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06140" y="1874520"/>
            <a:ext cx="25374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opens dashboard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0" y="1874520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63640" y="1874520"/>
            <a:ext cx="2537460" cy="59436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63640" y="1874520"/>
            <a:ext cx="25374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steals cookie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801100" y="1874520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21140" y="1874520"/>
            <a:ext cx="2537460" cy="59436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21140" y="1874520"/>
            <a:ext cx="25374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replays it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269748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2862072"/>
            <a:ext cx="1065276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&lt;script&gt;new Image().src='/api/collect?c='+encodeURIComponent(document.cookie)&lt;/script&gt;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11109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form + an admin who just views the data = full account takeover. No password, no phishing.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425196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WAF blocks both at the edge — the origin never sees the attack. → Part 2: keeping the site up under load.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DDOS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 WAF DDoS protection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0881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presenter runs a flood script from their own IP — a burst of requests at DP WAF.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WAF DDoS protection detects the abnormal volume and blocks that IP.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presenter opens the site in their browser → can no longer access it — DP WAF blocked their real IP.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real DP WAF, the flood comes from the presenter's real client IP — it ignores fake X-Forwarded-For headers, so the block is genuine, not a simulation.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16261A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53949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A5E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Per-IP awareness, applied defensively: spread the good, drop the bad — at the edge.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</a:rPr>
              <a:t>11 / 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00920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12827-202B-3004-0B3C-43B35251D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8FC481-AA09-CEB7-0800-66EDD57FC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11" y="194811"/>
            <a:ext cx="3448531" cy="64683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F204D9-A8BD-E205-A280-A8272EE38E13}"/>
              </a:ext>
            </a:extLst>
          </p:cNvPr>
          <p:cNvSpPr txBox="1"/>
          <p:nvPr/>
        </p:nvSpPr>
        <p:spPr>
          <a:xfrm>
            <a:off x="4839418" y="194811"/>
            <a:ext cx="69183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Domain</a:t>
            </a:r>
            <a:r>
              <a:rPr lang="en-US" dirty="0">
                <a:solidFill>
                  <a:schemeClr val="bg1"/>
                </a:solidFill>
              </a:rPr>
              <a:t>: Amount of domain/site can be added per plan.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Auto IP Blocking</a:t>
            </a:r>
            <a:r>
              <a:rPr lang="en-US" dirty="0">
                <a:solidFill>
                  <a:schemeClr val="bg1"/>
                </a:solidFill>
              </a:rPr>
              <a:t>: DDOS protection demo-ed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SSL/TLS Termination</a:t>
            </a:r>
            <a:r>
              <a:rPr lang="en-US" dirty="0">
                <a:solidFill>
                  <a:schemeClr val="bg1"/>
                </a:solidFill>
              </a:rPr>
              <a:t>: We are the decryption point, </a:t>
            </a:r>
            <a:r>
              <a:rPr lang="en-US" dirty="0"/>
              <a:t>The encrypted </a:t>
            </a:r>
            <a:r>
              <a:rPr lang="en-US" dirty="0">
                <a:solidFill>
                  <a:schemeClr val="bg1"/>
                </a:solidFill>
              </a:rPr>
              <a:t>connection from a user ends there, and the traffic is sent as unencrypted data to the final web application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API Protection (REST): </a:t>
            </a:r>
            <a:r>
              <a:rPr lang="en-US" dirty="0">
                <a:solidFill>
                  <a:schemeClr val="bg1"/>
                </a:solidFill>
              </a:rPr>
              <a:t>POST/GET/PUT/PATCH request methods are all protected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Reverse Proxy</a:t>
            </a:r>
            <a:r>
              <a:rPr lang="en-US" dirty="0">
                <a:solidFill>
                  <a:schemeClr val="bg1"/>
                </a:solidFill>
              </a:rPr>
              <a:t>: We redirect their user to the origin server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OWASP TOP 10</a:t>
            </a:r>
            <a:r>
              <a:rPr lang="en-US" dirty="0">
                <a:solidFill>
                  <a:schemeClr val="bg1"/>
                </a:solidFill>
              </a:rPr>
              <a:t>: We protect against it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Bot Mitigation</a:t>
            </a:r>
            <a:r>
              <a:rPr lang="en-US" dirty="0">
                <a:solidFill>
                  <a:schemeClr val="bg1"/>
                </a:solidFill>
              </a:rPr>
              <a:t>: Malicious bots are blocked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Machine Learning</a:t>
            </a:r>
            <a:r>
              <a:rPr lang="en-US" dirty="0">
                <a:solidFill>
                  <a:schemeClr val="bg1"/>
                </a:solidFill>
              </a:rPr>
              <a:t>: We use ML in backend to train and catch attacks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Email-based Support</a:t>
            </a:r>
            <a:r>
              <a:rPr lang="en-US" dirty="0">
                <a:solidFill>
                  <a:schemeClr val="bg1"/>
                </a:solidFill>
              </a:rPr>
              <a:t>: We offer other too, telegram, calls..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Real-time Logs &amp; Security Alerts</a:t>
            </a:r>
            <a:r>
              <a:rPr lang="en-US" dirty="0">
                <a:solidFill>
                  <a:schemeClr val="bg1"/>
                </a:solidFill>
              </a:rPr>
              <a:t>: Dashboard we offer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195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</a:t>
            </a:r>
            <a:r>
              <a:rPr lang="en-US" sz="3200" b="1" dirty="0">
                <a:solidFill>
                  <a:srgbClr val="58A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balancing</a:t>
            </a: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Spreading incoming traffic across multiple origin servers so no single one is overwhelmed.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WAF load-balances across </a:t>
            </a: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VPS origins</a:t>
            </a: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</a:t>
            </a: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algorithm.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965960"/>
            <a:ext cx="4754880" cy="4114800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78040" y="233172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78040" y="23317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098280" y="2926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8A6FF"/>
                </a:solidFill>
              </a:rPr>
              <a:t>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178040" y="333756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78040" y="33375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DP WAF load balancer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78040" y="3931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8A6FF"/>
                </a:solidFill>
              </a:rPr>
              <a:t>↓        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178040" y="4343400"/>
            <a:ext cx="194310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78040" y="4343400"/>
            <a:ext cx="19431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VPS-1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21140" y="43434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41180" y="4343400"/>
            <a:ext cx="194310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41180" y="4343400"/>
            <a:ext cx="19431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VPS-2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DEMO — PHASE 1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59536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7324A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origin hits the wall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</a:t>
            </a: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VPS origin active</a:t>
            </a: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that origin's </a:t>
            </a: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2-IP capacity limit</a:t>
            </a: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whole ceiling.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opens </a:t>
            </a:r>
            <a:r>
              <a:rPr lang="en-US" sz="14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/capacity.html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their own device. The 3rd person sees: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F851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503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overload — their own IP, rejected. Single origin = single capacity ceiling.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903720" y="1874520"/>
            <a:ext cx="4754880" cy="4206240"/>
          </a:xfrm>
          <a:prstGeom prst="roundRect">
            <a:avLst>
              <a:gd name="adj" fmla="val 260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2376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223760" y="2670048"/>
            <a:ext cx="310896" cy="310896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23760" y="2670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80960" y="2651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opens http://&lt;host&gt;:6060/capacity.html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23760" y="3584448"/>
            <a:ext cx="310896" cy="310896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23760" y="35844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6809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 IPs: ✅ connected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23760" y="4498848"/>
            <a:ext cx="310896" cy="310896"/>
          </a:xfrm>
          <a:prstGeom prst="ellipse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23760" y="44988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80960" y="44805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3rd+ IPs: ❌ 503 overloaded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23760" y="54864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"Served by origin" field.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DEMO — PHASE 2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59536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7324A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536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DP Load Balancer in front → everyone's back in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both VPS origins behind DP WAF, the load balancer spreads participants across them: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85216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29443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8A6FF"/>
                </a:solidFill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273552"/>
            <a:ext cx="585216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27355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DP Load Balancer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8A6FF"/>
                </a:solidFill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276606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27660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VPS-1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4700" y="41148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34740" y="4114800"/>
            <a:ext cx="276606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34740" y="4114800"/>
            <a:ext cx="27660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VPS-2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</a:t>
            </a: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 IPs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get in — </a:t>
            </a: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 VPS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</a:t>
            </a: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"Served by origin"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shows the spread.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03720" y="1828800"/>
            <a:ext cx="4754880" cy="4251960"/>
          </a:xfrm>
          <a:prstGeom prst="roundRect">
            <a:avLst>
              <a:gd name="adj" fmla="val 258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3760" y="2057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23760" y="2606040"/>
            <a:ext cx="4160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Load Balancer distributes each client to a VPS by Selected Algorithm. Two origins = double the capacity; the wall is gone.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52727-A56E-C5E1-0871-6E1081C93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95F153-FADC-3FF6-D746-96B56190968E}"/>
              </a:ext>
            </a:extLst>
          </p:cNvPr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DEMO — PHASE 2 </a:t>
            </a:r>
            <a:endParaRPr lang="en-US" sz="13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B453FE5-59F9-F6FE-1419-BF4742EDC7DD}"/>
              </a:ext>
            </a:extLst>
          </p:cNvPr>
          <p:cNvSpPr/>
          <p:nvPr/>
        </p:nvSpPr>
        <p:spPr>
          <a:xfrm>
            <a:off x="859536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7324A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756CBB-5E5B-0EB6-FD2B-98D5B94C7B30}"/>
              </a:ext>
            </a:extLst>
          </p:cNvPr>
          <p:cNvSpPr/>
          <p:nvPr/>
        </p:nvSpPr>
        <p:spPr>
          <a:xfrm>
            <a:off x="859536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5B6FF3F-6969-8D87-D011-F1C430405888}"/>
              </a:ext>
            </a:extLst>
          </p:cNvPr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</a:rPr>
              <a:t>Load Balancing Algorithm</a:t>
            </a:r>
            <a:endParaRPr lang="en-US" sz="2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F48E216-585B-EAF1-156F-A210106A6131}"/>
              </a:ext>
            </a:extLst>
          </p:cNvPr>
          <p:cNvSpPr/>
          <p:nvPr/>
        </p:nvSpPr>
        <p:spPr>
          <a:xfrm>
            <a:off x="548640" y="18288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3A4B3580-E007-B84E-F288-BFF35BC2F2D7}"/>
              </a:ext>
            </a:extLst>
          </p:cNvPr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</a:rPr>
              <a:t>10 / 12</a:t>
            </a:r>
            <a:endParaRPr lang="en-US" sz="1000" dirty="0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5259A171-3FA1-6D69-5F6A-076639AC7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432248"/>
              </p:ext>
            </p:extLst>
          </p:nvPr>
        </p:nvGraphicFramePr>
        <p:xfrm>
          <a:off x="1528314" y="1607336"/>
          <a:ext cx="9135372" cy="4853289"/>
        </p:xfrm>
        <a:graphic>
          <a:graphicData uri="http://schemas.openxmlformats.org/drawingml/2006/table">
            <a:tbl>
              <a:tblPr/>
              <a:tblGrid>
                <a:gridCol w="3045124">
                  <a:extLst>
                    <a:ext uri="{9D8B030D-6E8A-4147-A177-3AD203B41FA5}">
                      <a16:colId xmlns:a16="http://schemas.microsoft.com/office/drawing/2014/main" val="1596497760"/>
                    </a:ext>
                  </a:extLst>
                </a:gridCol>
                <a:gridCol w="3045124">
                  <a:extLst>
                    <a:ext uri="{9D8B030D-6E8A-4147-A177-3AD203B41FA5}">
                      <a16:colId xmlns:a16="http://schemas.microsoft.com/office/drawing/2014/main" val="2399137785"/>
                    </a:ext>
                  </a:extLst>
                </a:gridCol>
                <a:gridCol w="3045124">
                  <a:extLst>
                    <a:ext uri="{9D8B030D-6E8A-4147-A177-3AD203B41FA5}">
                      <a16:colId xmlns:a16="http://schemas.microsoft.com/office/drawing/2014/main" val="9665795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Algorithm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How the Host Decides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Best Used When...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917043"/>
                  </a:ext>
                </a:extLst>
              </a:tr>
              <a:tr h="1475523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Weighted Round Robin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Take turns based on server strength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You have some big, fast servers and some small, weak ones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955406"/>
                  </a:ext>
                </a:extLst>
              </a:tr>
              <a:tr h="1475523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Least Connections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Pick whoever is currently helping the fewest people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Tasks take unpredictable amounts of time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147496"/>
                  </a:ext>
                </a:extLst>
              </a:tr>
              <a:tr h="1475523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IP Hash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Use math on the user's address to lock them to one server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You need a user to stick with the same server every visit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033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3764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36036-D39D-5EC4-796B-9478AB9B1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AB3C9C5-5C9C-F569-10B0-452B0F4384DE}"/>
              </a:ext>
            </a:extLst>
          </p:cNvPr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DEMO — PHASE 2 </a:t>
            </a:r>
            <a:endParaRPr lang="en-US" sz="13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854039C-E5CF-6D49-A8A3-23B85CC64F3D}"/>
              </a:ext>
            </a:extLst>
          </p:cNvPr>
          <p:cNvSpPr/>
          <p:nvPr/>
        </p:nvSpPr>
        <p:spPr>
          <a:xfrm>
            <a:off x="8595360" y="384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7324A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F5C614-2379-DF85-2E81-9DA3347D43BF}"/>
              </a:ext>
            </a:extLst>
          </p:cNvPr>
          <p:cNvSpPr/>
          <p:nvPr/>
        </p:nvSpPr>
        <p:spPr>
          <a:xfrm>
            <a:off x="8595360" y="3840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1247D7D-463B-2DE4-1AE5-969EC0BB7E9A}"/>
              </a:ext>
            </a:extLst>
          </p:cNvPr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</a:rPr>
              <a:t>Load Balancing Algorithm Visual</a:t>
            </a:r>
            <a:endParaRPr lang="en-US" sz="2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88B7CED-F518-C05D-09D7-B3837DFD5C1D}"/>
              </a:ext>
            </a:extLst>
          </p:cNvPr>
          <p:cNvSpPr/>
          <p:nvPr/>
        </p:nvSpPr>
        <p:spPr>
          <a:xfrm>
            <a:off x="548640" y="18288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8985BF86-5CF2-9744-BA9F-8BBC208DD53B}"/>
              </a:ext>
            </a:extLst>
          </p:cNvPr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</a:rPr>
              <a:t>10 / 12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2CC218-707F-26F9-AAEE-4BD0EFBD5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640" y="153619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187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 for NOC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9476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WAF = layer-7 guard.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235000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SQLi &amp; XSS — injections the network firewall can't see.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299923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balancing = availability.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340156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scale removes the single-origin wall.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66928" cy="566928"/>
          </a:xfrm>
          <a:prstGeom prst="ellipse">
            <a:avLst/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069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🚧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405079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Per-IP control = DDoS defense.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44531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the good, drop the bad, at the edge.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566928" cy="566928"/>
          </a:xfrm>
          <a:prstGeom prst="ellipse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5120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👀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510235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the first responders.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25880" y="550468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 know the signatures: 503 spikes, single-IP floods, injection strings in logs.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49E"/>
                </a:solidFill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1840</Words>
  <Application>Microsoft Office PowerPoint</Application>
  <PresentationFormat>Widescreen</PresentationFormat>
  <Paragraphs>215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LENG Bunheng</cp:lastModifiedBy>
  <cp:revision>2</cp:revision>
  <dcterms:created xsi:type="dcterms:W3CDTF">2026-07-21T07:53:13Z</dcterms:created>
  <dcterms:modified xsi:type="dcterms:W3CDTF">2026-07-21T08:34:01Z</dcterms:modified>
</cp:coreProperties>
</file>